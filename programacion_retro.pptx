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Pulse para desplazar la diapositiva</a:t>
            </a: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Pulse para editar el formato de las notas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&lt;cabecera&gt;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78F58DA-EDCA-4BDF-BE9B-7FA79C7B03E5}" type="slidenum"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3DFF206-2421-4918-B8E0-0F2B08D490AB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F460ED2-E3AE-4C00-A3A2-450D091B5230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2E55396-9742-4843-A163-CC6AE18414EE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E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chemeClr val="dk1"/>
                </a:solidFill>
                <a:latin typeface="Calibri"/>
              </a:rPr>
              <a:t>Pulse para editar el formato del texto de título</a:t>
            </a: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49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chemeClr val="dk1"/>
                </a:solidFill>
                <a:latin typeface="Calibri"/>
              </a:rPr>
              <a:t>Pulse para editar el formato de texto del esquema</a:t>
            </a:r>
            <a:endParaRPr b="0" lang="es-E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400" spc="-1" strike="noStrike">
                <a:solidFill>
                  <a:schemeClr val="dk1"/>
                </a:solidFill>
                <a:latin typeface="Calibri"/>
              </a:rPr>
              <a:t>Segundo nivel del esquema</a:t>
            </a:r>
            <a:endParaRPr b="0" lang="es-E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</a:rPr>
              <a:t>Tercer nivel del esquema</a:t>
            </a:r>
            <a:endParaRPr b="0" lang="es-E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</a:rPr>
              <a:t>Cuarto nivel del esquema</a:t>
            </a:r>
            <a:endParaRPr b="0" lang="es-E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</a:rPr>
              <a:t>Quinto nivel del esquema</a:t>
            </a:r>
            <a:endParaRPr b="0" lang="es-E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</a:rPr>
              <a:t>Sexto nivel del esquema</a:t>
            </a:r>
            <a:endParaRPr b="0" lang="es-E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Calibri"/>
              </a:rPr>
              <a:t>Séptimo nivel del esquema</a:t>
            </a:r>
            <a:endParaRPr b="0" lang="es-E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opBar"/>
          <p:cNvSpPr/>
          <p:nvPr/>
        </p:nvSpPr>
        <p:spPr>
          <a:xfrm>
            <a:off x="0" y="0"/>
            <a:ext cx="9143640" cy="9108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LeftBar"/>
          <p:cNvSpPr/>
          <p:nvPr/>
        </p:nvSpPr>
        <p:spPr>
          <a:xfrm>
            <a:off x="0" y="91440"/>
            <a:ext cx="45360" cy="505188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Supertitle"/>
          <p:cNvSpPr/>
          <p:nvPr/>
        </p:nvSpPr>
        <p:spPr>
          <a:xfrm>
            <a:off x="228600" y="18288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CO" sz="900" spc="398" strike="noStrike">
                <a:solidFill>
                  <a:srgbClr val="c0392b"/>
                </a:solidFill>
                <a:latin typeface="Courier New"/>
              </a:rPr>
              <a:t>PROGRAMACIÓN PARA NO PROGRAMADORES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MainTitle"/>
          <p:cNvSpPr/>
          <p:nvPr/>
        </p:nvSpPr>
        <p:spPr>
          <a:xfrm>
            <a:off x="228600" y="502920"/>
            <a:ext cx="54860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CO" sz="4000" spc="-1" strike="noStrike">
                <a:solidFill>
                  <a:srgbClr val="1a1a1a"/>
                </a:solidFill>
                <a:latin typeface="Courier New"/>
              </a:rPr>
              <a:t>¿Que es programar?</a:t>
            </a:r>
            <a:endParaRPr b="0" lang="es-E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Card1BG"/>
          <p:cNvSpPr/>
          <p:nvPr/>
        </p:nvSpPr>
        <p:spPr>
          <a:xfrm>
            <a:off x="228600" y="1645920"/>
            <a:ext cx="5486040" cy="822600"/>
          </a:xfrm>
          <a:prstGeom prst="rect">
            <a:avLst/>
          </a:prstGeom>
          <a:noFill/>
          <a:ln w="18288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Card1Label"/>
          <p:cNvSpPr/>
          <p:nvPr/>
        </p:nvSpPr>
        <p:spPr>
          <a:xfrm>
            <a:off x="274320" y="1691640"/>
            <a:ext cx="731160" cy="22824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CO" sz="800" spc="-1" strike="noStrike">
                <a:solidFill>
                  <a:srgbClr val="f5f0e8"/>
                </a:solidFill>
                <a:latin typeface="Courier New"/>
              </a:rPr>
              <a:t>LA PROG.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Card1Text"/>
          <p:cNvSpPr/>
          <p:nvPr/>
        </p:nvSpPr>
        <p:spPr>
          <a:xfrm>
            <a:off x="274320" y="1965960"/>
            <a:ext cx="5394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CO" sz="1200" spc="-1" strike="noStrike">
                <a:solidFill>
                  <a:srgbClr val="1a1a1a"/>
                </a:solidFill>
                <a:latin typeface="Courier New"/>
              </a:rPr>
              <a:t>Darle instrucciones paso a paso a la computadora, como una receta.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Card2BG"/>
          <p:cNvSpPr/>
          <p:nvPr/>
        </p:nvSpPr>
        <p:spPr>
          <a:xfrm>
            <a:off x="228600" y="2559240"/>
            <a:ext cx="5486040" cy="822600"/>
          </a:xfrm>
          <a:prstGeom prst="rect">
            <a:avLst/>
          </a:prstGeom>
          <a:noFill/>
          <a:ln w="18288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" name="Card2Label"/>
          <p:cNvSpPr/>
          <p:nvPr/>
        </p:nvSpPr>
        <p:spPr>
          <a:xfrm>
            <a:off x="274320" y="2604960"/>
            <a:ext cx="731160" cy="22824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CO" sz="800" spc="-1" strike="noStrike">
                <a:solidFill>
                  <a:srgbClr val="f5f0e8"/>
                </a:solidFill>
                <a:latin typeface="Courier New"/>
              </a:rPr>
              <a:t>PYTHON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Card2Text"/>
          <p:cNvSpPr/>
          <p:nvPr/>
        </p:nvSpPr>
        <p:spPr>
          <a:xfrm>
            <a:off x="274320" y="2877840"/>
            <a:ext cx="5394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CO" sz="1200" spc="-1" strike="noStrike">
                <a:solidFill>
                  <a:srgbClr val="1a1a1a"/>
                </a:solidFill>
                <a:latin typeface="Courier New"/>
              </a:rPr>
              <a:t>El idioma mas sencillo y popular para hablarle a la computadora.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CodeBG"/>
          <p:cNvSpPr/>
          <p:nvPr/>
        </p:nvSpPr>
        <p:spPr>
          <a:xfrm>
            <a:off x="228600" y="3474720"/>
            <a:ext cx="5486040" cy="54828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CodeText"/>
          <p:cNvSpPr/>
          <p:nvPr/>
        </p:nvSpPr>
        <p:spPr>
          <a:xfrm>
            <a:off x="320040" y="3520440"/>
            <a:ext cx="534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CO" sz="1300" spc="-1" strike="noStrike">
                <a:solidFill>
                  <a:srgbClr val="c0392b"/>
                </a:solidFill>
                <a:latin typeface="Courier New"/>
              </a:rPr>
              <a:t>print</a:t>
            </a:r>
            <a:r>
              <a:rPr b="0" lang="es-CO" sz="1300" spc="-1" strike="noStrike">
                <a:solidFill>
                  <a:srgbClr val="f5f0e8"/>
                </a:solidFill>
                <a:latin typeface="Courier New"/>
              </a:rPr>
              <a:t>("Hola, mundo!")  </a:t>
            </a:r>
            <a:r>
              <a:rPr b="0" lang="es-CO" sz="1300" spc="-1" strike="noStrike">
                <a:solidFill>
                  <a:srgbClr val="888888"/>
                </a:solidFill>
                <a:latin typeface="Courier New"/>
              </a:rPr>
              <a:t># La compu dice: Hola, mundo!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RightPanel"/>
          <p:cNvSpPr/>
          <p:nvPr/>
        </p:nvSpPr>
        <p:spPr>
          <a:xfrm>
            <a:off x="6034680" y="1554480"/>
            <a:ext cx="2880360" cy="222552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RightIcon1"/>
          <p:cNvSpPr/>
          <p:nvPr/>
        </p:nvSpPr>
        <p:spPr>
          <a:xfrm>
            <a:off x="6080400" y="1645920"/>
            <a:ext cx="2788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s-CO" sz="3200" spc="-1" strike="noStrike">
                <a:solidFill>
                  <a:srgbClr val="f5f0e8"/>
                </a:solidFill>
                <a:latin typeface="Calibri"/>
              </a:rPr>
              <a:t>🍳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RightText1"/>
          <p:cNvSpPr/>
          <p:nvPr/>
        </p:nvSpPr>
        <p:spPr>
          <a:xfrm>
            <a:off x="6080400" y="2240280"/>
            <a:ext cx="2788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s-CO" sz="1000" spc="-1" strike="noStrike">
                <a:solidFill>
                  <a:srgbClr val="c0392b"/>
                </a:solidFill>
                <a:latin typeface="Courier New"/>
              </a:rPr>
              <a:t>Programar = receta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RightDiv"/>
          <p:cNvSpPr/>
          <p:nvPr/>
        </p:nvSpPr>
        <p:spPr>
          <a:xfrm>
            <a:off x="6080400" y="2560320"/>
            <a:ext cx="2788920" cy="18000"/>
          </a:xfrm>
          <a:prstGeom prst="rect">
            <a:avLst/>
          </a:prstGeom>
          <a:solidFill>
            <a:srgbClr val="3333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RightIcon2"/>
          <p:cNvSpPr/>
          <p:nvPr/>
        </p:nvSpPr>
        <p:spPr>
          <a:xfrm>
            <a:off x="6080400" y="2606040"/>
            <a:ext cx="2788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s-CO" sz="3200" spc="-1" strike="noStrike">
                <a:solidFill>
                  <a:srgbClr val="f5f0e8"/>
                </a:solidFill>
                <a:latin typeface="Calibri"/>
              </a:rPr>
              <a:t>🐍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RightText2"/>
          <p:cNvSpPr/>
          <p:nvPr/>
        </p:nvSpPr>
        <p:spPr>
          <a:xfrm>
            <a:off x="6080400" y="3200400"/>
            <a:ext cx="2788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s-CO" sz="1000" spc="-1" strike="noStrike">
                <a:solidFill>
                  <a:srgbClr val="c0392b"/>
                </a:solidFill>
                <a:latin typeface="Courier New"/>
              </a:rPr>
              <a:t>Python = idioma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BottomBar"/>
          <p:cNvSpPr/>
          <p:nvPr/>
        </p:nvSpPr>
        <p:spPr>
          <a:xfrm>
            <a:off x="0" y="5051520"/>
            <a:ext cx="9143640" cy="9180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PageNum"/>
          <p:cNvSpPr/>
          <p:nvPr/>
        </p:nvSpPr>
        <p:spPr>
          <a:xfrm>
            <a:off x="8503920" y="4846320"/>
            <a:ext cx="548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s-CO" sz="800" spc="-1" strike="noStrike">
                <a:solidFill>
                  <a:srgbClr val="888888"/>
                </a:solidFill>
                <a:latin typeface="Courier New"/>
              </a:rPr>
              <a:t>1 / 3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opBar"/>
          <p:cNvSpPr/>
          <p:nvPr/>
        </p:nvSpPr>
        <p:spPr>
          <a:xfrm>
            <a:off x="0" y="0"/>
            <a:ext cx="9143640" cy="9108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LeftBar"/>
          <p:cNvSpPr/>
          <p:nvPr/>
        </p:nvSpPr>
        <p:spPr>
          <a:xfrm>
            <a:off x="0" y="91440"/>
            <a:ext cx="45360" cy="505188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Supertitle"/>
          <p:cNvSpPr/>
          <p:nvPr/>
        </p:nvSpPr>
        <p:spPr>
          <a:xfrm>
            <a:off x="228600" y="18288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CO" sz="900" spc="398" strike="noStrike">
                <a:solidFill>
                  <a:srgbClr val="1a1a1a"/>
                </a:solidFill>
                <a:latin typeface="Courier New"/>
              </a:rPr>
              <a:t>CONCEPTOS CLAVE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MainTitle"/>
          <p:cNvSpPr/>
          <p:nvPr/>
        </p:nvSpPr>
        <p:spPr>
          <a:xfrm>
            <a:off x="228600" y="502920"/>
            <a:ext cx="86864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CO" sz="4000" spc="-1" strike="noStrike">
                <a:solidFill>
                  <a:srgbClr val="1a1a1a"/>
                </a:solidFill>
                <a:latin typeface="Courier New"/>
              </a:rPr>
              <a:t>Variables y Funciones</a:t>
            </a:r>
            <a:endParaRPr b="0" lang="es-E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HRule"/>
          <p:cNvSpPr/>
          <p:nvPr/>
        </p:nvSpPr>
        <p:spPr>
          <a:xfrm>
            <a:off x="228600" y="1417320"/>
            <a:ext cx="8686440" cy="1800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VarBG"/>
          <p:cNvSpPr/>
          <p:nvPr/>
        </p:nvSpPr>
        <p:spPr>
          <a:xfrm>
            <a:off x="228600" y="1508760"/>
            <a:ext cx="4206240" cy="1371240"/>
          </a:xfrm>
          <a:prstGeom prst="rect">
            <a:avLst/>
          </a:prstGeom>
          <a:noFill/>
          <a:ln w="18288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" name="VarLabel"/>
          <p:cNvSpPr/>
          <p:nvPr/>
        </p:nvSpPr>
        <p:spPr>
          <a:xfrm>
            <a:off x="274320" y="1554480"/>
            <a:ext cx="822600" cy="22824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CO" sz="800" spc="-1" strike="noStrike">
                <a:solidFill>
                  <a:srgbClr val="f5f0e8"/>
                </a:solidFill>
                <a:latin typeface="Courier New"/>
              </a:rPr>
              <a:t>VARIABLE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VarHead"/>
          <p:cNvSpPr/>
          <p:nvPr/>
        </p:nvSpPr>
        <p:spPr>
          <a:xfrm>
            <a:off x="868680" y="1828800"/>
            <a:ext cx="3475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CO" sz="1300" spc="-1" strike="noStrike">
                <a:solidFill>
                  <a:srgbClr val="1a1a1a"/>
                </a:solidFill>
                <a:latin typeface="Courier New"/>
              </a:rPr>
              <a:t>Una caja con etiqueta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VarDesc"/>
          <p:cNvSpPr/>
          <p:nvPr/>
        </p:nvSpPr>
        <p:spPr>
          <a:xfrm>
            <a:off x="868680" y="2102400"/>
            <a:ext cx="34750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CO" sz="1100" spc="-1" strike="noStrike">
                <a:solidFill>
                  <a:srgbClr val="444444"/>
                </a:solidFill>
                <a:latin typeface="Courier New"/>
              </a:rPr>
              <a:t>Guardas algo dentro y le pones un nombre para encontrarlo despues.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FuncBG"/>
          <p:cNvSpPr/>
          <p:nvPr/>
        </p:nvSpPr>
        <p:spPr>
          <a:xfrm>
            <a:off x="4708440" y="1508760"/>
            <a:ext cx="4206240" cy="1371240"/>
          </a:xfrm>
          <a:prstGeom prst="rect">
            <a:avLst/>
          </a:prstGeom>
          <a:noFill/>
          <a:ln w="18288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FuncLabel"/>
          <p:cNvSpPr/>
          <p:nvPr/>
        </p:nvSpPr>
        <p:spPr>
          <a:xfrm>
            <a:off x="4754160" y="1554480"/>
            <a:ext cx="822600" cy="22824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CO" sz="800" spc="-1" strike="noStrike">
                <a:solidFill>
                  <a:srgbClr val="f5f0e8"/>
                </a:solidFill>
                <a:latin typeface="Courier New"/>
              </a:rPr>
              <a:t>FUNCION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FuncHead"/>
          <p:cNvSpPr/>
          <p:nvPr/>
        </p:nvSpPr>
        <p:spPr>
          <a:xfrm>
            <a:off x="5348520" y="1828800"/>
            <a:ext cx="3475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CO" sz="1300" spc="-1" strike="noStrike">
                <a:solidFill>
                  <a:srgbClr val="1a1a1a"/>
                </a:solidFill>
                <a:latin typeface="Courier New"/>
              </a:rPr>
              <a:t>Un empleado que sabe hacer algo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FuncDesc"/>
          <p:cNvSpPr/>
          <p:nvPr/>
        </p:nvSpPr>
        <p:spPr>
          <a:xfrm>
            <a:off x="5348520" y="2102400"/>
            <a:ext cx="34750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CO" sz="1100" spc="-1" strike="noStrike">
                <a:solidFill>
                  <a:srgbClr val="444444"/>
                </a:solidFill>
                <a:latin typeface="Courier New"/>
              </a:rPr>
              <a:t>Lo entrenas una vez y lo mandas a trabajar cuantas veces quieras.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CodeBG"/>
          <p:cNvSpPr/>
          <p:nvPr/>
        </p:nvSpPr>
        <p:spPr>
          <a:xfrm>
            <a:off x="228600" y="2971800"/>
            <a:ext cx="4271400" cy="86832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CodeText"/>
          <p:cNvSpPr/>
          <p:nvPr/>
        </p:nvSpPr>
        <p:spPr>
          <a:xfrm>
            <a:off x="320040" y="3017520"/>
            <a:ext cx="8503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cdcfe"/>
                </a:solidFill>
                <a:latin typeface="Consolas"/>
                <a:ea typeface="Consolas"/>
              </a:rPr>
              <a:t>nombre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 = </a:t>
            </a:r>
            <a:r>
              <a:rPr b="0" lang="en-US" sz="1200" spc="-1" strike="noStrike">
                <a:solidFill>
                  <a:srgbClr val="ce9178"/>
                </a:solidFill>
                <a:latin typeface="Consolas"/>
                <a:ea typeface="Consolas"/>
              </a:rPr>
              <a:t>"Carlos"</a:t>
            </a:r>
            <a:r>
              <a:rPr b="0" lang="en-US" sz="1200" spc="-1" strike="noStrike">
                <a:solidFill>
                  <a:srgbClr val="6a9955"/>
                </a:solidFill>
                <a:latin typeface="Consolas"/>
                <a:ea typeface="Consolas"/>
              </a:rPr>
              <a:t>  ← caja llamada nombre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cdcfe"/>
                </a:solidFill>
                <a:latin typeface="Consolas"/>
                <a:ea typeface="Consolas"/>
              </a:rPr>
              <a:t>edad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 = </a:t>
            </a:r>
            <a:r>
              <a:rPr b="0" lang="en-US" sz="1200" spc="-1" strike="noStrike">
                <a:solidFill>
                  <a:srgbClr val="b5cea8"/>
                </a:solidFill>
                <a:latin typeface="Consolas"/>
                <a:ea typeface="Consolas"/>
              </a:rPr>
              <a:t>25</a:t>
            </a:r>
            <a:r>
              <a:rPr b="0" lang="en-US" sz="1200" spc="-1" strike="noStrike">
                <a:solidFill>
                  <a:srgbClr val="6a9955"/>
                </a:solidFill>
                <a:latin typeface="Consolas"/>
                <a:ea typeface="Consolas"/>
              </a:rPr>
              <a:t>          ← caja con el número 25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ipBG"/>
          <p:cNvSpPr/>
          <p:nvPr/>
        </p:nvSpPr>
        <p:spPr>
          <a:xfrm>
            <a:off x="228600" y="3977640"/>
            <a:ext cx="8686440" cy="411120"/>
          </a:xfrm>
          <a:prstGeom prst="rect">
            <a:avLst/>
          </a:prstGeom>
          <a:noFill/>
          <a:ln w="9144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" name="TipText"/>
          <p:cNvSpPr/>
          <p:nvPr/>
        </p:nvSpPr>
        <p:spPr>
          <a:xfrm>
            <a:off x="320040" y="3977640"/>
            <a:ext cx="8595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CO" sz="1100" spc="-1" strike="noStrike">
                <a:solidFill>
                  <a:srgbClr val="1a1a1a"/>
                </a:solidFill>
                <a:latin typeface="Courier New"/>
              </a:rPr>
              <a:t>// Las variables guardan datos. Las funciones agrupan acciones repetibles.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BottomBar"/>
          <p:cNvSpPr/>
          <p:nvPr/>
        </p:nvSpPr>
        <p:spPr>
          <a:xfrm>
            <a:off x="0" y="5051520"/>
            <a:ext cx="9143640" cy="9180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ageNum"/>
          <p:cNvSpPr/>
          <p:nvPr/>
        </p:nvSpPr>
        <p:spPr>
          <a:xfrm>
            <a:off x="8503920" y="4846320"/>
            <a:ext cx="548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s-CO" sz="800" spc="-1" strike="noStrike">
                <a:solidFill>
                  <a:srgbClr val="888888"/>
                </a:solidFill>
                <a:latin typeface="Courier New"/>
              </a:rPr>
              <a:t>2 / 3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CodeBG 1"/>
          <p:cNvSpPr/>
          <p:nvPr/>
        </p:nvSpPr>
        <p:spPr>
          <a:xfrm>
            <a:off x="4500000" y="2971800"/>
            <a:ext cx="4500000" cy="86832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4517640" y="3060000"/>
            <a:ext cx="4305960" cy="44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c586c0"/>
                </a:solidFill>
                <a:latin typeface="Consolas"/>
                <a:ea typeface="Consolas"/>
              </a:rPr>
              <a:t>def</a:t>
            </a:r>
            <a:r>
              <a:rPr b="0" lang="en-US" sz="1200" spc="-1" strike="noStrike">
                <a:solidFill>
                  <a:srgbClr val="dcdcaa"/>
                </a:solidFill>
                <a:latin typeface="Consolas"/>
                <a:ea typeface="Consolas"/>
              </a:rPr>
              <a:t> saludar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():</a:t>
            </a:r>
            <a:r>
              <a:rPr b="0" lang="en-US" sz="1200" spc="-1" strike="noStrike">
                <a:solidFill>
                  <a:srgbClr val="6a9955"/>
                </a:solidFill>
                <a:latin typeface="Consolas"/>
                <a:ea typeface="Consolas"/>
              </a:rPr>
              <a:t>          ← defines al empleado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200" spc="-1" strike="noStrike">
                <a:solidFill>
                  <a:srgbClr val="dcdcaa"/>
                </a:solidFill>
                <a:latin typeface="Consolas"/>
                <a:ea typeface="Consolas"/>
              </a:rPr>
              <a:t>  </a:t>
            </a:r>
            <a:r>
              <a:rPr b="0" lang="en-US" sz="1200" spc="-1" strike="noStrike">
                <a:solidFill>
                  <a:srgbClr val="dcdcaa"/>
                </a:solidFill>
                <a:latin typeface="Consolas"/>
                <a:ea typeface="Consolas"/>
              </a:rPr>
              <a:t>print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Consolas"/>
              </a:rPr>
              <a:t>(</a:t>
            </a:r>
            <a:r>
              <a:rPr b="0" lang="en-US" sz="1200" spc="-1" strike="noStrike">
                <a:solidFill>
                  <a:srgbClr val="ce9178"/>
                </a:solidFill>
                <a:latin typeface="Consolas"/>
                <a:ea typeface="Consolas"/>
              </a:rPr>
              <a:t>"¡Hola!"</a:t>
            </a:r>
            <a:r>
              <a:rPr b="0" lang="en-US" sz="1200" spc="-1" strike="noStrike">
                <a:solidFill>
                  <a:srgbClr val="6a9955"/>
                </a:solidFill>
                <a:latin typeface="Consolas"/>
                <a:ea typeface="Consolas"/>
              </a:rPr>
              <a:t>)       ← lo que sabe hacer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opBar"/>
          <p:cNvSpPr/>
          <p:nvPr/>
        </p:nvSpPr>
        <p:spPr>
          <a:xfrm>
            <a:off x="0" y="0"/>
            <a:ext cx="9143640" cy="9108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" name="LeftBar"/>
          <p:cNvSpPr/>
          <p:nvPr/>
        </p:nvSpPr>
        <p:spPr>
          <a:xfrm>
            <a:off x="0" y="91440"/>
            <a:ext cx="45360" cy="505188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" name="Supertitle"/>
          <p:cNvSpPr/>
          <p:nvPr/>
        </p:nvSpPr>
        <p:spPr>
          <a:xfrm>
            <a:off x="228600" y="18288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CO" sz="900" spc="398" strike="noStrike">
                <a:solidFill>
                  <a:srgbClr val="c0392b"/>
                </a:solidFill>
                <a:latin typeface="Courier New"/>
              </a:rPr>
              <a:t>CERRANDO EL CICLO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MainTitle"/>
          <p:cNvSpPr/>
          <p:nvPr/>
        </p:nvSpPr>
        <p:spPr>
          <a:xfrm>
            <a:off x="228600" y="457200"/>
            <a:ext cx="5486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CO" sz="3400" spc="-1" strike="noStrike">
                <a:solidFill>
                  <a:srgbClr val="1a1a1a"/>
                </a:solidFill>
                <a:latin typeface="Courier New"/>
              </a:rPr>
              <a:t>Parámetros y el Gran Resumen</a:t>
            </a:r>
            <a:endParaRPr b="0" lang="es-E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HRule"/>
          <p:cNvSpPr/>
          <p:nvPr/>
        </p:nvSpPr>
        <p:spPr>
          <a:xfrm>
            <a:off x="228600" y="1417320"/>
            <a:ext cx="5486040" cy="1800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aramBG"/>
          <p:cNvSpPr/>
          <p:nvPr/>
        </p:nvSpPr>
        <p:spPr>
          <a:xfrm>
            <a:off x="228600" y="1508760"/>
            <a:ext cx="5486040" cy="1096920"/>
          </a:xfrm>
          <a:prstGeom prst="rect">
            <a:avLst/>
          </a:prstGeom>
          <a:noFill/>
          <a:ln w="18288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aramLabel"/>
          <p:cNvSpPr/>
          <p:nvPr/>
        </p:nvSpPr>
        <p:spPr>
          <a:xfrm>
            <a:off x="274320" y="1554480"/>
            <a:ext cx="914040" cy="22824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CO" sz="800" spc="-1" strike="noStrike">
                <a:solidFill>
                  <a:srgbClr val="f5f0e8"/>
                </a:solidFill>
                <a:latin typeface="Courier New"/>
              </a:rPr>
              <a:t>PARÁMETROS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ParamHead"/>
          <p:cNvSpPr/>
          <p:nvPr/>
        </p:nvSpPr>
        <p:spPr>
          <a:xfrm>
            <a:off x="822960" y="1828800"/>
            <a:ext cx="4800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CO" sz="1300" spc="-1" strike="noStrike">
                <a:solidFill>
                  <a:srgbClr val="1a1a1a"/>
                </a:solidFill>
                <a:latin typeface="Courier New"/>
              </a:rPr>
              <a:t>La informacion que le das al empleado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aramDesc"/>
          <p:cNvSpPr/>
          <p:nvPr/>
        </p:nvSpPr>
        <p:spPr>
          <a:xfrm>
            <a:off x="822960" y="2102400"/>
            <a:ext cx="4800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CO" sz="1100" spc="-1" strike="noStrike">
                <a:solidFill>
                  <a:srgbClr val="444444"/>
                </a:solidFill>
                <a:latin typeface="Courier New"/>
              </a:rPr>
              <a:t>Permiten que la misma funcion trabaje de forma personalizada cada vez.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CodeBG"/>
          <p:cNvSpPr/>
          <p:nvPr/>
        </p:nvSpPr>
        <p:spPr>
          <a:xfrm>
            <a:off x="228600" y="2697480"/>
            <a:ext cx="5486040" cy="82260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" name="CodeText"/>
          <p:cNvSpPr/>
          <p:nvPr/>
        </p:nvSpPr>
        <p:spPr>
          <a:xfrm>
            <a:off x="320040" y="2743200"/>
            <a:ext cx="534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1" lang="es-CO" sz="1150" spc="-1" strike="noStrike">
                <a:solidFill>
                  <a:srgbClr val="c0392b"/>
                </a:solidFill>
                <a:latin typeface="Courier New"/>
              </a:rPr>
              <a:t>def</a:t>
            </a:r>
            <a:r>
              <a:rPr b="0" lang="es-CO" sz="1150" spc="-1" strike="noStrike">
                <a:solidFill>
                  <a:srgbClr val="dcdcaa"/>
                </a:solidFill>
                <a:latin typeface="Courier New"/>
              </a:rPr>
              <a:t> saludar</a:t>
            </a:r>
            <a:r>
              <a:rPr b="0" lang="es-CO" sz="1150" spc="-1" strike="noStrike">
                <a:solidFill>
                  <a:srgbClr val="9cdcfe"/>
                </a:solidFill>
                <a:latin typeface="Courier New"/>
              </a:rPr>
              <a:t>(nombre)</a:t>
            </a:r>
            <a:r>
              <a:rPr b="0" lang="es-CO" sz="1150" spc="-1" strike="noStrike">
                <a:solidFill>
                  <a:srgbClr val="888888"/>
                </a:solidFill>
                <a:latin typeface="Courier New"/>
              </a:rPr>
              <a:t>:   # recibe un nombre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CO" sz="1150" spc="-1" strike="noStrike">
                <a:solidFill>
                  <a:srgbClr val="888888"/>
                </a:solidFill>
                <a:latin typeface="Courier New"/>
              </a:rPr>
              <a:t>  </a:t>
            </a:r>
            <a:r>
              <a:rPr b="0" lang="es-CO" sz="1150" spc="-1" strike="noStrike">
                <a:solidFill>
                  <a:srgbClr val="dcdcaa"/>
                </a:solidFill>
                <a:latin typeface="Courier New"/>
              </a:rPr>
              <a:t>print</a:t>
            </a:r>
            <a:r>
              <a:rPr b="0" lang="es-CO" sz="1150" spc="-1" strike="noStrike">
                <a:solidFill>
                  <a:srgbClr val="ce9178"/>
                </a:solidFill>
                <a:latin typeface="Courier New"/>
              </a:rPr>
              <a:t>(f"Hola {nombre}")</a:t>
            </a:r>
            <a:r>
              <a:rPr b="0" lang="es-CO" sz="1150" spc="-1" strike="noStrike">
                <a:solidFill>
                  <a:srgbClr val="888888"/>
                </a:solidFill>
                <a:latin typeface="Courier New"/>
              </a:rPr>
              <a:t>   saludar("Maria") -&gt; Hola, Maria!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umBG"/>
          <p:cNvSpPr/>
          <p:nvPr/>
        </p:nvSpPr>
        <p:spPr>
          <a:xfrm>
            <a:off x="5943240" y="1417320"/>
            <a:ext cx="2971800" cy="214848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SumTitle"/>
          <p:cNvSpPr/>
          <p:nvPr/>
        </p:nvSpPr>
        <p:spPr>
          <a:xfrm>
            <a:off x="5988960" y="1463040"/>
            <a:ext cx="2880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CO" sz="900" spc="299" strike="noStrike">
                <a:solidFill>
                  <a:srgbClr val="c0392b"/>
                </a:solidFill>
                <a:latin typeface="Courier New"/>
              </a:rPr>
              <a:t>RESUMEN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umItems"/>
          <p:cNvSpPr/>
          <p:nvPr/>
        </p:nvSpPr>
        <p:spPr>
          <a:xfrm>
            <a:off x="5988960" y="1737360"/>
            <a:ext cx="288036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CO" sz="1000" spc="-1" strike="noStrike">
                <a:solidFill>
                  <a:srgbClr val="c0392b"/>
                </a:solidFill>
                <a:latin typeface="Courier New"/>
              </a:rPr>
              <a:t>Programar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CO" sz="900" spc="-1" strike="noStrike">
                <a:solidFill>
                  <a:srgbClr val="888888"/>
                </a:solidFill>
                <a:latin typeface="Courier New"/>
              </a:rPr>
              <a:t>Instrucciones paso a paso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CO" sz="1000" spc="-1" strike="noStrike">
                <a:solidFill>
                  <a:srgbClr val="f5f0e8"/>
                </a:solidFill>
                <a:latin typeface="Courier New"/>
              </a:rPr>
              <a:t>Variable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CO" sz="900" spc="-1" strike="noStrike">
                <a:solidFill>
                  <a:srgbClr val="888888"/>
                </a:solidFill>
                <a:latin typeface="Courier New"/>
              </a:rPr>
              <a:t>Caja que guarda datos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CO" sz="1000" spc="-1" strike="noStrike">
                <a:solidFill>
                  <a:srgbClr val="c0392b"/>
                </a:solidFill>
                <a:latin typeface="Courier New"/>
              </a:rPr>
              <a:t>Funcion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CO" sz="900" spc="-1" strike="noStrike">
                <a:solidFill>
                  <a:srgbClr val="888888"/>
                </a:solidFill>
                <a:latin typeface="Courier New"/>
              </a:rPr>
              <a:t>Empleado reutilizable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CO" sz="1000" spc="-1" strike="noStrike">
                <a:solidFill>
                  <a:srgbClr val="f5f0e8"/>
                </a:solidFill>
                <a:latin typeface="Courier New"/>
              </a:rPr>
              <a:t>Parametro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CO" sz="900" spc="-1" strike="noStrike">
                <a:solidFill>
                  <a:srgbClr val="888888"/>
                </a:solidFill>
                <a:latin typeface="Courier New"/>
              </a:rPr>
              <a:t>Info que le pasas a la funcion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GraciasBG"/>
          <p:cNvSpPr/>
          <p:nvPr/>
        </p:nvSpPr>
        <p:spPr>
          <a:xfrm>
            <a:off x="0" y="3612960"/>
            <a:ext cx="9143640" cy="143820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GraciasText"/>
          <p:cNvSpPr/>
          <p:nvPr/>
        </p:nvSpPr>
        <p:spPr>
          <a:xfrm>
            <a:off x="228600" y="3612960"/>
            <a:ext cx="9143640" cy="143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CO" sz="5200" spc="-1" strike="noStrike">
                <a:solidFill>
                  <a:srgbClr val="f5f0e8"/>
                </a:solidFill>
                <a:latin typeface="Courier New"/>
              </a:rPr>
              <a:t>GRACIAS_</a:t>
            </a:r>
            <a:endParaRPr b="0" lang="es-E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GraciasAccent"/>
          <p:cNvSpPr/>
          <p:nvPr/>
        </p:nvSpPr>
        <p:spPr>
          <a:xfrm>
            <a:off x="0" y="5051520"/>
            <a:ext cx="9143640" cy="9180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" name="PageNum"/>
          <p:cNvSpPr/>
          <p:nvPr/>
        </p:nvSpPr>
        <p:spPr>
          <a:xfrm>
            <a:off x="8503920" y="4846320"/>
            <a:ext cx="548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s-CO" sz="800" spc="-1" strike="noStrike">
                <a:solidFill>
                  <a:srgbClr val="888888"/>
                </a:solidFill>
                <a:latin typeface="Courier New"/>
              </a:rPr>
              <a:t>3 / 3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Application>LibreOffice/24.2.7.2$Linux_X86_64 LibreOffice_project/420$Build-2</Application>
  <AppVersion>15.0000</AppVersion>
  <Words>298</Words>
  <Paragraphs>56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2026-04-12T19:09:16Z</dcterms:created>
  <dc:creator>PptxGenJS</dc:creator>
  <dc:description/>
  <dc:language>es-ES</dc:language>
  <cp:lastModifiedBy/>
  <dcterms:modified xsi:type="dcterms:W3CDTF">2026-04-13T07:04:59Z</dcterms:modified>
  <cp:revision>3</cp:revision>
  <dc:subject>PptxGenJS Presentation</dc:subject>
  <dc:title>Introducción a la Programación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Presentación en pantalla (16:9)</vt:lpwstr>
  </property>
  <property fmtid="{D5CDD505-2E9C-101B-9397-08002B2CF9AE}" pid="4" name="Slides">
    <vt:i4>3</vt:i4>
  </property>
</Properties>
</file>