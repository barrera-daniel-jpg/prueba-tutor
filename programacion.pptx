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desplazar la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diapositiva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B91E54-2FC6-4DC4-A970-7135014243A1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3547572-38CD-45F3-9657-DAA34261CEB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C6F7E5-35E3-49DB-86C7-4FC74F33CCD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64FE99-D66F-4FFE-9336-4D83736807F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editar el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formato del texto de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título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365760" y="2743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000" spc="299" strike="noStrike">
                <a:solidFill>
                  <a:srgbClr val="90caf9"/>
                </a:solidFill>
                <a:latin typeface="Calibri"/>
              </a:rPr>
              <a:t>Programación para no programadores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65760" y="523080"/>
            <a:ext cx="5303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4000" spc="-1" strike="noStrike">
                <a:solidFill>
                  <a:srgbClr val="ffffff"/>
                </a:solidFill>
                <a:latin typeface="Calibri"/>
              </a:rPr>
              <a:t>¿Qué es programar?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" name="Grupo 22"/>
          <p:cNvGrpSpPr/>
          <p:nvPr/>
        </p:nvGrpSpPr>
        <p:grpSpPr>
          <a:xfrm>
            <a:off x="6035040" y="1066320"/>
            <a:ext cx="2742840" cy="1462680"/>
            <a:chOff x="6035040" y="1066320"/>
            <a:chExt cx="2742840" cy="1462680"/>
          </a:xfrm>
        </p:grpSpPr>
        <p:sp>
          <p:nvSpPr>
            <p:cNvPr id="12" name="Shape 4"/>
            <p:cNvSpPr/>
            <p:nvPr/>
          </p:nvSpPr>
          <p:spPr>
            <a:xfrm>
              <a:off x="6035040" y="1066320"/>
              <a:ext cx="2742840" cy="1371240"/>
            </a:xfrm>
            <a:prstGeom prst="rect">
              <a:avLst/>
            </a:prstGeom>
            <a:solidFill>
              <a:srgbClr val="1a2a50"/>
            </a:solidFill>
            <a:ln w="12700">
              <a:solidFill>
                <a:srgbClr val="ffffff">
                  <a:alpha val="1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s-CO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" name="Text 5"/>
            <p:cNvSpPr/>
            <p:nvPr/>
          </p:nvSpPr>
          <p:spPr>
            <a:xfrm>
              <a:off x="6400800" y="1157760"/>
              <a:ext cx="201132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3600" spc="-1" strike="noStrike">
                  <a:solidFill>
                    <a:srgbClr val="000000"/>
                  </a:solidFill>
                  <a:latin typeface="Calibri"/>
                </a:rPr>
                <a:t>🍳</a:t>
              </a:r>
              <a:endParaRPr b="0" lang="es-E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" name="Text 6"/>
            <p:cNvSpPr/>
            <p:nvPr/>
          </p:nvSpPr>
          <p:spPr>
            <a:xfrm>
              <a:off x="6126480" y="1706400"/>
              <a:ext cx="255996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1100" spc="-1" strike="noStrike">
                  <a:solidFill>
                    <a:srgbClr val="e8eaf6"/>
                  </a:solidFill>
                  <a:latin typeface="Calibri"/>
                </a:rPr>
                <a:t>Programar = darle instrucciones paso a paso a la computadora</a:t>
              </a:r>
              <a:endParaRPr b="0" lang="es-ES" sz="11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" name="Grupo 24"/>
          <p:cNvGrpSpPr/>
          <p:nvPr/>
        </p:nvGrpSpPr>
        <p:grpSpPr>
          <a:xfrm>
            <a:off x="6035040" y="2849400"/>
            <a:ext cx="2742840" cy="1462680"/>
            <a:chOff x="6035040" y="2849400"/>
            <a:chExt cx="2742840" cy="1462680"/>
          </a:xfrm>
        </p:grpSpPr>
        <p:sp>
          <p:nvSpPr>
            <p:cNvPr id="16" name="Shape 7"/>
            <p:cNvSpPr/>
            <p:nvPr/>
          </p:nvSpPr>
          <p:spPr>
            <a:xfrm>
              <a:off x="6035040" y="2849400"/>
              <a:ext cx="2742840" cy="1371240"/>
            </a:xfrm>
            <a:prstGeom prst="rect">
              <a:avLst/>
            </a:prstGeom>
            <a:solidFill>
              <a:srgbClr val="1a2a50"/>
            </a:solidFill>
            <a:ln w="12700">
              <a:solidFill>
                <a:srgbClr val="ffffff">
                  <a:alpha val="1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s-CO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" name="Text 8"/>
            <p:cNvSpPr/>
            <p:nvPr/>
          </p:nvSpPr>
          <p:spPr>
            <a:xfrm>
              <a:off x="6400800" y="2940840"/>
              <a:ext cx="201132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3600" spc="-1" strike="noStrike">
                  <a:solidFill>
                    <a:srgbClr val="000000"/>
                  </a:solidFill>
                  <a:latin typeface="Calibri"/>
                </a:rPr>
                <a:t>🐍</a:t>
              </a:r>
              <a:endParaRPr b="0" lang="es-E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Text 9"/>
            <p:cNvSpPr/>
            <p:nvPr/>
          </p:nvSpPr>
          <p:spPr>
            <a:xfrm>
              <a:off x="6126480" y="3489480"/>
              <a:ext cx="255996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1100" spc="-1" strike="noStrike">
                  <a:solidFill>
                    <a:srgbClr val="e8eaf6"/>
                  </a:solidFill>
                  <a:latin typeface="Calibri"/>
                </a:rPr>
                <a:t>Python es el "idioma" que usamos para hablarle a la computadora</a:t>
              </a:r>
              <a:endParaRPr b="0" lang="es-ES" sz="11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" name="Grupo 23"/>
          <p:cNvGrpSpPr/>
          <p:nvPr/>
        </p:nvGrpSpPr>
        <p:grpSpPr>
          <a:xfrm>
            <a:off x="335160" y="1648080"/>
            <a:ext cx="5303160" cy="914040"/>
            <a:chOff x="335160" y="1648080"/>
            <a:chExt cx="5303160" cy="914040"/>
          </a:xfrm>
        </p:grpSpPr>
        <p:sp>
          <p:nvSpPr>
            <p:cNvPr id="20" name="Shape 10"/>
            <p:cNvSpPr/>
            <p:nvPr/>
          </p:nvSpPr>
          <p:spPr>
            <a:xfrm>
              <a:off x="335160" y="1648080"/>
              <a:ext cx="5303160" cy="914040"/>
            </a:xfrm>
            <a:prstGeom prst="rect">
              <a:avLst/>
            </a:prstGeom>
            <a:solidFill>
              <a:srgbClr val="1a2a50"/>
            </a:solidFill>
            <a:ln w="12700">
              <a:solidFill>
                <a:srgbClr val="ffffff">
                  <a:alpha val="1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s-CO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" name="Text 11"/>
            <p:cNvSpPr/>
            <p:nvPr/>
          </p:nvSpPr>
          <p:spPr>
            <a:xfrm>
              <a:off x="472320" y="1739520"/>
              <a:ext cx="639720" cy="73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2400" spc="-1" strike="noStrike">
                  <a:solidFill>
                    <a:srgbClr val="000000"/>
                  </a:solidFill>
                  <a:latin typeface="Calibri"/>
                </a:rPr>
                <a:t>📋</a:t>
              </a:r>
              <a:endParaRPr b="0" lang="es-E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" name="Text 12"/>
            <p:cNvSpPr/>
            <p:nvPr/>
          </p:nvSpPr>
          <p:spPr>
            <a:xfrm>
              <a:off x="1158120" y="1721160"/>
              <a:ext cx="429732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s-CO" sz="1300" spc="-1" strike="noStrike">
                  <a:solidFill>
                    <a:srgbClr val="ffffff"/>
                  </a:solidFill>
                  <a:latin typeface="Calibri"/>
                </a:rPr>
                <a:t>La programación es...</a:t>
              </a:r>
              <a:endParaRPr b="0" lang="es-ES" sz="1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Text 13"/>
            <p:cNvSpPr/>
            <p:nvPr/>
          </p:nvSpPr>
          <p:spPr>
            <a:xfrm>
              <a:off x="1158120" y="1995480"/>
              <a:ext cx="429732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1200" spc="-1" strike="noStrike">
                  <a:solidFill>
                    <a:srgbClr val="90caf9"/>
                  </a:solidFill>
                  <a:latin typeface="Calibri"/>
                </a:rPr>
                <a:t>Escribir es darle una receta que la compu y ella sigue al pie de la letra dicha receta</a:t>
              </a:r>
              <a:endParaRPr b="0" lang="es-E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" name="Grupo 25"/>
          <p:cNvGrpSpPr/>
          <p:nvPr/>
        </p:nvGrpSpPr>
        <p:grpSpPr>
          <a:xfrm>
            <a:off x="365760" y="2958480"/>
            <a:ext cx="5303160" cy="914040"/>
            <a:chOff x="365760" y="2958480"/>
            <a:chExt cx="5303160" cy="914040"/>
          </a:xfrm>
        </p:grpSpPr>
        <p:sp>
          <p:nvSpPr>
            <p:cNvPr id="25" name="Shape 14"/>
            <p:cNvSpPr/>
            <p:nvPr/>
          </p:nvSpPr>
          <p:spPr>
            <a:xfrm>
              <a:off x="365760" y="2958480"/>
              <a:ext cx="5303160" cy="914040"/>
            </a:xfrm>
            <a:prstGeom prst="rect">
              <a:avLst/>
            </a:prstGeom>
            <a:solidFill>
              <a:srgbClr val="1a2a50"/>
            </a:solidFill>
            <a:ln w="12700">
              <a:solidFill>
                <a:srgbClr val="ffffff">
                  <a:alpha val="1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s-CO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" name="Text 15"/>
            <p:cNvSpPr/>
            <p:nvPr/>
          </p:nvSpPr>
          <p:spPr>
            <a:xfrm>
              <a:off x="502920" y="3049920"/>
              <a:ext cx="639720" cy="73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2400" spc="-1" strike="noStrike">
                  <a:solidFill>
                    <a:srgbClr val="000000"/>
                  </a:solidFill>
                  <a:latin typeface="Calibri"/>
                </a:rPr>
                <a:t>🌍</a:t>
              </a:r>
              <a:endParaRPr b="0" lang="es-E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Text 16"/>
            <p:cNvSpPr/>
            <p:nvPr/>
          </p:nvSpPr>
          <p:spPr>
            <a:xfrm>
              <a:off x="1188720" y="3031920"/>
              <a:ext cx="429732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s-ES" sz="13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r>
                <a:rPr b="1" lang="es-CO" sz="1300" spc="-1" strike="noStrike">
                  <a:solidFill>
                    <a:srgbClr val="ffffff"/>
                  </a:solidFill>
                  <a:latin typeface="Calibri"/>
                </a:rPr>
                <a:t>l idioma python</a:t>
              </a:r>
              <a:endParaRPr b="0" lang="es-ES" sz="1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" name="Text 17"/>
            <p:cNvSpPr/>
            <p:nvPr/>
          </p:nvSpPr>
          <p:spPr>
            <a:xfrm>
              <a:off x="1188720" y="3306240"/>
              <a:ext cx="429732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s-CO" sz="1200" spc="-1" strike="noStrike">
                  <a:solidFill>
                    <a:srgbClr val="90caf9"/>
                  </a:solidFill>
                  <a:latin typeface="Calibri"/>
                </a:rPr>
                <a:t>Es el idioma más sencillo y popular para empezar a programar.</a:t>
              </a:r>
              <a:endParaRPr b="0" lang="es-E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9" name="Shape 18"/>
          <p:cNvSpPr/>
          <p:nvPr/>
        </p:nvSpPr>
        <p:spPr>
          <a:xfrm>
            <a:off x="365760" y="4389120"/>
            <a:ext cx="5303160" cy="594000"/>
          </a:xfrm>
          <a:prstGeom prst="rect">
            <a:avLst/>
          </a:prstGeom>
          <a:solidFill>
            <a:srgbClr val="0a0f1e"/>
          </a:solidFill>
          <a:ln w="12700">
            <a:solidFill>
              <a:srgbClr val="e9456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502920" y="443484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300" spc="-1" strike="noStrike">
                <a:solidFill>
                  <a:srgbClr val="569cd6"/>
                </a:solidFill>
                <a:latin typeface="Consolas"/>
                <a:ea typeface="Consolas"/>
              </a:rPr>
              <a:t>print</a:t>
            </a:r>
            <a:r>
              <a:rPr b="0" lang="es-CO" sz="1300" spc="-1" strike="noStrike">
                <a:solidFill>
                  <a:srgbClr val="90caf9"/>
                </a:solidFill>
                <a:latin typeface="Consolas"/>
                <a:ea typeface="Consolas"/>
              </a:rPr>
              <a:t>(</a:t>
            </a:r>
            <a:r>
              <a:rPr b="0" lang="es-CO" sz="1300" spc="-1" strike="noStrike">
                <a:solidFill>
                  <a:srgbClr val="ce9178"/>
                </a:solidFill>
                <a:latin typeface="Consolas"/>
                <a:ea typeface="Consolas"/>
              </a:rPr>
              <a:t>"Hola, mundo!"</a:t>
            </a:r>
            <a:r>
              <a:rPr b="0" lang="es-CO" sz="1300" spc="-1" strike="noStrike">
                <a:solidFill>
                  <a:srgbClr val="90caf9"/>
                </a:solidFill>
                <a:latin typeface="Consolas"/>
                <a:ea typeface="Consolas"/>
              </a:rPr>
              <a:t>)</a:t>
            </a:r>
            <a:r>
              <a:rPr b="0" lang="es-CO" sz="1300" spc="-1" strike="noStrike">
                <a:solidFill>
                  <a:srgbClr val="6a9955"/>
                </a:solidFill>
                <a:latin typeface="Consolas"/>
                <a:ea typeface="Consolas"/>
              </a:rPr>
              <a:t>    →  La compu dice: Hola, mundo!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8503920" y="48463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-1" strike="noStrike">
                <a:solidFill>
                  <a:srgbClr val="90caf9"/>
                </a:solidFill>
                <a:latin typeface="Calibri"/>
              </a:rPr>
              <a:t>1 / 3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1"/>
          <p:cNvSpPr/>
          <p:nvPr/>
        </p:nvSpPr>
        <p:spPr>
          <a:xfrm>
            <a:off x="365760" y="2743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00c9a7"/>
                </a:solidFill>
                <a:latin typeface="Calibri"/>
              </a:rPr>
              <a:t>CONCEPTOS CLAVE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365760" y="59436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Variables y Funciones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365760" y="1371600"/>
            <a:ext cx="1279800" cy="310680"/>
          </a:xfrm>
          <a:prstGeom prst="roundRect">
            <a:avLst>
              <a:gd name="adj" fmla="val 29412"/>
            </a:avLst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Text 4"/>
          <p:cNvSpPr/>
          <p:nvPr/>
        </p:nvSpPr>
        <p:spPr>
          <a:xfrm>
            <a:off x="365760" y="1371600"/>
            <a:ext cx="1279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13e"/>
                </a:solidFill>
                <a:latin typeface="Calibri"/>
              </a:rPr>
              <a:t>VARIABLE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5"/>
          <p:cNvSpPr/>
          <p:nvPr/>
        </p:nvSpPr>
        <p:spPr>
          <a:xfrm>
            <a:off x="365760" y="1783080"/>
            <a:ext cx="3931560" cy="118836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Text 6"/>
          <p:cNvSpPr/>
          <p:nvPr/>
        </p:nvSpPr>
        <p:spPr>
          <a:xfrm>
            <a:off x="457200" y="18288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📦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1325880" y="18288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Una caja con etiqueta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1325880" y="2148840"/>
            <a:ext cx="28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caf9"/>
                </a:solidFill>
                <a:latin typeface="Calibri"/>
              </a:rPr>
              <a:t>Guardas algo dentro y le pones un nombre para encontrarlo después.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365760" y="3063240"/>
            <a:ext cx="4187520" cy="804240"/>
          </a:xfrm>
          <a:prstGeom prst="rect">
            <a:avLst/>
          </a:prstGeom>
          <a:solidFill>
            <a:srgbClr val="0a0f1e"/>
          </a:solidFill>
          <a:ln w="12700">
            <a:solidFill>
              <a:srgbClr val="00c9a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502920" y="3127320"/>
            <a:ext cx="4050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9cdcfe"/>
                </a:solidFill>
                <a:latin typeface="Consolas"/>
                <a:ea typeface="Consolas"/>
              </a:rPr>
              <a:t>nombre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 = </a:t>
            </a:r>
            <a:r>
              <a:rPr b="0" lang="en-US" sz="1200" spc="-1" strike="noStrike">
                <a:solidFill>
                  <a:srgbClr val="ce9178"/>
                </a:solidFill>
                <a:latin typeface="Consolas"/>
                <a:ea typeface="Consolas"/>
              </a:rPr>
              <a:t>"Carlos"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    ← caja llamada nombre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dcfe"/>
                </a:solidFill>
                <a:latin typeface="Consolas"/>
                <a:ea typeface="Consolas"/>
              </a:rPr>
              <a:t>edad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 = </a:t>
            </a:r>
            <a:r>
              <a:rPr b="0" lang="en-US" sz="1200" spc="-1" strike="noStrike">
                <a:solidFill>
                  <a:srgbClr val="b5cea8"/>
                </a:solidFill>
                <a:latin typeface="Consolas"/>
                <a:ea typeface="Consolas"/>
              </a:rPr>
              <a:t>25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             ← caja con el número 25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1"/>
          <p:cNvSpPr/>
          <p:nvPr/>
        </p:nvSpPr>
        <p:spPr>
          <a:xfrm>
            <a:off x="4754880" y="1371600"/>
            <a:ext cx="1371240" cy="310680"/>
          </a:xfrm>
          <a:prstGeom prst="roundRect">
            <a:avLst>
              <a:gd name="adj" fmla="val 29412"/>
            </a:avLst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4754880" y="1371600"/>
            <a:ext cx="1371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13e"/>
                </a:solidFill>
                <a:latin typeface="Calibri"/>
              </a:rPr>
              <a:t>FUNCIÓN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3"/>
          <p:cNvSpPr/>
          <p:nvPr/>
        </p:nvSpPr>
        <p:spPr>
          <a:xfrm>
            <a:off x="4754880" y="1783080"/>
            <a:ext cx="4114440" cy="118836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4846320" y="18288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🤖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5715000" y="182880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Un empleado que sabe hacer algo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5715000" y="21488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caf9"/>
                </a:solidFill>
                <a:latin typeface="Calibri"/>
              </a:rPr>
              <a:t>Lo entrenas una vez y lo mandas a trabajar cuantas veces quieras.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7"/>
          <p:cNvSpPr/>
          <p:nvPr/>
        </p:nvSpPr>
        <p:spPr>
          <a:xfrm>
            <a:off x="4754880" y="3063240"/>
            <a:ext cx="4114440" cy="804240"/>
          </a:xfrm>
          <a:prstGeom prst="rect">
            <a:avLst/>
          </a:prstGeom>
          <a:solidFill>
            <a:srgbClr val="0a0f1e"/>
          </a:solidFill>
          <a:ln w="12700">
            <a:solidFill>
              <a:srgbClr val="f9a825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4892040" y="312732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c586c0"/>
                </a:solidFill>
                <a:latin typeface="Consolas"/>
                <a:ea typeface="Consolas"/>
              </a:rPr>
              <a:t>def</a:t>
            </a:r>
            <a:r>
              <a:rPr b="0" lang="en-US" sz="1200" spc="-1" strike="noStrike">
                <a:solidFill>
                  <a:srgbClr val="dcdcaa"/>
                </a:solidFill>
                <a:latin typeface="Consolas"/>
                <a:ea typeface="Consolas"/>
              </a:rPr>
              <a:t> saludar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():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          ← defines al empleado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dcaa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cdcaa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</a:t>
            </a:r>
            <a:r>
              <a:rPr b="0" lang="en-US" sz="1200" spc="-1" strike="noStrike">
                <a:solidFill>
                  <a:srgbClr val="ce9178"/>
                </a:solidFill>
                <a:latin typeface="Consolas"/>
                <a:ea typeface="Consolas"/>
              </a:rPr>
              <a:t>"¡Hola!"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)       ← lo que sabe hacer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9"/>
          <p:cNvSpPr/>
          <p:nvPr/>
        </p:nvSpPr>
        <p:spPr>
          <a:xfrm>
            <a:off x="365760" y="3977640"/>
            <a:ext cx="8503560" cy="5025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502920" y="4023360"/>
            <a:ext cx="832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af6"/>
                </a:solidFill>
                <a:latin typeface="Calibri"/>
              </a:rPr>
              <a:t>💡  </a:t>
            </a:r>
            <a:r>
              <a:rPr b="0" lang="en-US" sz="1200" spc="-1" strike="noStrike">
                <a:solidFill>
                  <a:srgbClr val="e8eaf6"/>
                </a:solidFill>
                <a:latin typeface="Calibri"/>
              </a:rPr>
              <a:t>Las variables guardan información. Las funciones agrupan acciones que se repiten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8503920" y="48463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0caf9"/>
                </a:solidFill>
                <a:latin typeface="Calibri"/>
              </a:rPr>
              <a:t>2 / 3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65760" y="2743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e94560"/>
                </a:solidFill>
                <a:latin typeface="Calibri"/>
              </a:rPr>
              <a:t>CERRANDO EL CICLO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365760" y="59436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Parámetros y el Gran Resumen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365760" y="1371600"/>
            <a:ext cx="1554120" cy="310680"/>
          </a:xfrm>
          <a:prstGeom prst="roundRect">
            <a:avLst>
              <a:gd name="adj" fmla="val 29412"/>
            </a:avLst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4"/>
          <p:cNvSpPr/>
          <p:nvPr/>
        </p:nvSpPr>
        <p:spPr>
          <a:xfrm>
            <a:off x="365760" y="137160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PARÁMETROS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365760" y="1783080"/>
            <a:ext cx="5028840" cy="105120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Text 6"/>
          <p:cNvSpPr/>
          <p:nvPr/>
        </p:nvSpPr>
        <p:spPr>
          <a:xfrm>
            <a:off x="457200" y="18288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234440" y="18288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La información que le das al empleado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1234440" y="2148840"/>
            <a:ext cx="4023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caf9"/>
                </a:solidFill>
                <a:latin typeface="Calibri"/>
              </a:rPr>
              <a:t>Los parámetros permiten que la misma función haga su trabajo de forma personalizada cada vez.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365760" y="2926080"/>
            <a:ext cx="5028840" cy="914040"/>
          </a:xfrm>
          <a:prstGeom prst="rect">
            <a:avLst/>
          </a:prstGeom>
          <a:solidFill>
            <a:srgbClr val="0a0f1e"/>
          </a:solidFill>
          <a:ln w="12700">
            <a:solidFill>
              <a:srgbClr val="e9456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502920" y="29901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50" spc="-1" strike="noStrike">
                <a:solidFill>
                  <a:srgbClr val="c586c0"/>
                </a:solidFill>
                <a:latin typeface="Consolas"/>
                <a:ea typeface="Consolas"/>
              </a:rPr>
              <a:t>def</a:t>
            </a:r>
            <a:r>
              <a:rPr b="0" lang="en-US" sz="1150" spc="-1" strike="noStrike">
                <a:solidFill>
                  <a:srgbClr val="dcdcaa"/>
                </a:solidFill>
                <a:latin typeface="Consolas"/>
                <a:ea typeface="Consolas"/>
              </a:rPr>
              <a:t> saludar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(</a:t>
            </a:r>
            <a:r>
              <a:rPr b="0" lang="en-US" sz="1150" spc="-1" strike="noStrike">
                <a:solidFill>
                  <a:srgbClr val="9cdcfe"/>
                </a:solidFill>
                <a:latin typeface="Consolas"/>
                <a:ea typeface="Consolas"/>
              </a:rPr>
              <a:t>nombre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  <a:ea typeface="Consolas"/>
              </a:rPr>
              <a:t>):      ← recibe un nombre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dcdcaa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cdcaa"/>
                </a:solidFill>
                <a:latin typeface="Consolas"/>
                <a:ea typeface="Consolas"/>
              </a:rPr>
              <a:t>print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(f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  <a:ea typeface="Consolas"/>
              </a:rPr>
              <a:t>“Hola {</a:t>
            </a:r>
            <a:r>
              <a:rPr b="0" lang="en-US" sz="1150" spc="-1" strike="noStrike">
                <a:solidFill>
                  <a:srgbClr val="78cace"/>
                </a:solidFill>
                <a:latin typeface="Consolas"/>
                <a:ea typeface="Consolas"/>
              </a:rPr>
              <a:t>nombre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  <a:ea typeface="Consolas"/>
              </a:rPr>
              <a:t>}"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cdcaa"/>
                </a:solidFill>
                <a:latin typeface="Consolas"/>
                <a:ea typeface="Consolas"/>
              </a:rPr>
              <a:t>saludar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(</a:t>
            </a:r>
            <a:r>
              <a:rPr b="0" lang="en-US" sz="1150" spc="-1" strike="noStrike">
                <a:solidFill>
                  <a:srgbClr val="ce9178"/>
                </a:solidFill>
                <a:latin typeface="Consolas"/>
                <a:ea typeface="Consolas"/>
              </a:rPr>
              <a:t>"María"</a:t>
            </a:r>
            <a:r>
              <a:rPr b="0" lang="en-US" sz="1150" spc="-1" strike="noStrike">
                <a:solidFill>
                  <a:srgbClr val="6a9955"/>
                </a:solidFill>
                <a:latin typeface="Consolas"/>
                <a:ea typeface="Consolas"/>
              </a:rPr>
              <a:t>)  →  ¡Hola, María!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120000" y="1325880"/>
            <a:ext cx="2840760" cy="50256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6272640" y="136260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Programar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6272640" y="157284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caf9"/>
                </a:solidFill>
                <a:latin typeface="Calibri"/>
              </a:rPr>
              <a:t>Instrucciones paso a paso para la compu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6120000" y="1892880"/>
            <a:ext cx="2840760" cy="50256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6272640" y="192924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Python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6272640" y="213984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caf9"/>
                </a:solidFill>
                <a:latin typeface="Calibri"/>
              </a:rPr>
              <a:t>El idioma para darle esas instrucciones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6120000" y="2459880"/>
            <a:ext cx="2840760" cy="50256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6272640" y="249624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Variable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6272640" y="27064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caf9"/>
                </a:solidFill>
                <a:latin typeface="Calibri"/>
              </a:rPr>
              <a:t>Caja con etiqueta que guarda información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6120000" y="3026520"/>
            <a:ext cx="2840760" cy="50256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6272640" y="306324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Función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6"/>
          <p:cNvSpPr/>
          <p:nvPr/>
        </p:nvSpPr>
        <p:spPr>
          <a:xfrm>
            <a:off x="6272640" y="32734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caf9"/>
                </a:solidFill>
                <a:latin typeface="Calibri"/>
              </a:rPr>
              <a:t>Empleado que sabe hacer una tarea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7"/>
          <p:cNvSpPr/>
          <p:nvPr/>
        </p:nvSpPr>
        <p:spPr>
          <a:xfrm>
            <a:off x="6120000" y="3593520"/>
            <a:ext cx="2840760" cy="502560"/>
          </a:xfrm>
          <a:prstGeom prst="rect">
            <a:avLst/>
          </a:prstGeom>
          <a:solidFill>
            <a:srgbClr val="1a2a50"/>
          </a:solidFill>
          <a:ln w="127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 29"/>
          <p:cNvSpPr/>
          <p:nvPr/>
        </p:nvSpPr>
        <p:spPr>
          <a:xfrm>
            <a:off x="6272640" y="363024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Parámetro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30"/>
          <p:cNvSpPr/>
          <p:nvPr/>
        </p:nvSpPr>
        <p:spPr>
          <a:xfrm>
            <a:off x="6272640" y="38404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caf9"/>
                </a:solidFill>
                <a:latin typeface="Calibri"/>
              </a:rPr>
              <a:t>Info que le pasas a la función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31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CO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Text 32"/>
          <p:cNvSpPr/>
          <p:nvPr/>
        </p:nvSpPr>
        <p:spPr>
          <a:xfrm>
            <a:off x="274320" y="468180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Gracias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  <Words>298</Words>
  <Paragraphs>56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2026-04-12T19:09:16Z</dcterms:created>
  <dc:creator>PptxGenJS</dc:creator>
  <dc:description/>
  <dc:language>es-ES</dc:language>
  <cp:lastModifiedBy/>
  <dcterms:modified xsi:type="dcterms:W3CDTF">2026-04-13T06:18:53Z</dcterms:modified>
  <cp:revision>3</cp:revision>
  <dc:subject>PptxGenJS Presentation</dc:subject>
  <dc:title>Introducción a la Programación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(16:9)</vt:lpwstr>
  </property>
  <property fmtid="{D5CDD505-2E9C-101B-9397-08002B2CF9AE}" pid="4" name="Slides">
    <vt:i4>3</vt:i4>
  </property>
</Properties>
</file>